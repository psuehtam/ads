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anva Sans Bold" panose="020B0604020202020204" charset="0"/>
      <p:regular r:id="rId11"/>
    </p:embeddedFont>
    <p:embeddedFont>
      <p:font typeface="Garet Bold" panose="020B0604020202020204" charset="0"/>
      <p:regular r:id="rId12"/>
    </p:embeddedFont>
    <p:embeddedFont>
      <p:font typeface="Open Sans" panose="020B0606030504020204" pitchFamily="34" charset="0"/>
      <p:regular r:id="rId13"/>
    </p:embeddedFont>
    <p:embeddedFont>
      <p:font typeface="Open San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87399" y="0"/>
            <a:ext cx="2800601" cy="3766090"/>
          </a:xfrm>
          <a:custGeom>
            <a:avLst/>
            <a:gdLst/>
            <a:ahLst/>
            <a:cxnLst/>
            <a:rect l="l" t="t" r="r" b="b"/>
            <a:pathLst>
              <a:path w="2800601" h="3766090">
                <a:moveTo>
                  <a:pt x="0" y="0"/>
                </a:moveTo>
                <a:lnTo>
                  <a:pt x="2800601" y="0"/>
                </a:lnTo>
                <a:lnTo>
                  <a:pt x="2800601" y="3766090"/>
                </a:lnTo>
                <a:lnTo>
                  <a:pt x="0" y="37660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0" y="3113312"/>
            <a:ext cx="18288000" cy="389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8"/>
              </a:lnSpc>
            </a:pPr>
            <a:r>
              <a:rPr lang="en-US" sz="10400" b="1" dirty="0">
                <a:solidFill>
                  <a:srgbClr val="2A5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DESPERDÍCIO</a:t>
            </a:r>
          </a:p>
          <a:p>
            <a:pPr algn="ctr">
              <a:lnSpc>
                <a:spcPts val="10088"/>
              </a:lnSpc>
            </a:pPr>
            <a:r>
              <a:rPr lang="en-US" sz="10400" b="1" dirty="0">
                <a:solidFill>
                  <a:srgbClr val="2A5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 </a:t>
            </a:r>
          </a:p>
          <a:p>
            <a:pPr algn="ctr">
              <a:lnSpc>
                <a:spcPts val="10088"/>
              </a:lnSpc>
            </a:pPr>
            <a:r>
              <a:rPr lang="en-US" sz="10400" b="1" dirty="0">
                <a:solidFill>
                  <a:srgbClr val="2A5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ÁGUA E ENERGIA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7194487"/>
            <a:ext cx="3173287" cy="3092513"/>
          </a:xfrm>
          <a:custGeom>
            <a:avLst/>
            <a:gdLst/>
            <a:ahLst/>
            <a:cxnLst/>
            <a:rect l="l" t="t" r="r" b="b"/>
            <a:pathLst>
              <a:path w="3173287" h="3092513">
                <a:moveTo>
                  <a:pt x="0" y="0"/>
                </a:moveTo>
                <a:lnTo>
                  <a:pt x="3173287" y="0"/>
                </a:lnTo>
                <a:lnTo>
                  <a:pt x="3173287" y="3092513"/>
                </a:lnTo>
                <a:lnTo>
                  <a:pt x="0" y="3092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8" name="AutoShape 2" descr="Questionário sobre desperdício de recursos">
            <a:extLst>
              <a:ext uri="{FF2B5EF4-FFF2-40B4-BE49-F238E27FC236}">
                <a16:creationId xmlns:a16="http://schemas.microsoft.com/office/drawing/2014/main" id="{EBD9299B-96D3-A56A-F817-0233FAD099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1249458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9" name="Group 5">
            <a:extLst>
              <a:ext uri="{FF2B5EF4-FFF2-40B4-BE49-F238E27FC236}">
                <a16:creationId xmlns:a16="http://schemas.microsoft.com/office/drawing/2014/main" id="{372D3386-9B01-75B6-FA9B-C61A70773F58}"/>
              </a:ext>
            </a:extLst>
          </p:cNvPr>
          <p:cNvGrpSpPr/>
          <p:nvPr/>
        </p:nvGrpSpPr>
        <p:grpSpPr>
          <a:xfrm>
            <a:off x="6033121" y="-891340"/>
            <a:ext cx="6254416" cy="1782679"/>
            <a:chOff x="0" y="0"/>
            <a:chExt cx="1647254" cy="469512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0A162687-74AF-4C26-17C9-38BA60241B82}"/>
                </a:ext>
              </a:extLst>
            </p:cNvPr>
            <p:cNvSpPr/>
            <p:nvPr/>
          </p:nvSpPr>
          <p:spPr>
            <a:xfrm>
              <a:off x="0" y="0"/>
              <a:ext cx="1647254" cy="469512"/>
            </a:xfrm>
            <a:custGeom>
              <a:avLst/>
              <a:gdLst/>
              <a:ahLst/>
              <a:cxnLst/>
              <a:rect l="l" t="t" r="r" b="b"/>
              <a:pathLst>
                <a:path w="1647254" h="469512">
                  <a:moveTo>
                    <a:pt x="62665" y="0"/>
                  </a:moveTo>
                  <a:lnTo>
                    <a:pt x="1584588" y="0"/>
                  </a:lnTo>
                  <a:cubicBezTo>
                    <a:pt x="1619197" y="0"/>
                    <a:pt x="1647254" y="28056"/>
                    <a:pt x="1647254" y="62665"/>
                  </a:cubicBezTo>
                  <a:lnTo>
                    <a:pt x="1647254" y="406847"/>
                  </a:lnTo>
                  <a:cubicBezTo>
                    <a:pt x="1647254" y="441456"/>
                    <a:pt x="1619197" y="469512"/>
                    <a:pt x="1584588" y="469512"/>
                  </a:cubicBezTo>
                  <a:lnTo>
                    <a:pt x="62665" y="469512"/>
                  </a:lnTo>
                  <a:cubicBezTo>
                    <a:pt x="28056" y="469512"/>
                    <a:pt x="0" y="441456"/>
                    <a:pt x="0" y="406847"/>
                  </a:cubicBezTo>
                  <a:lnTo>
                    <a:pt x="0" y="62665"/>
                  </a:lnTo>
                  <a:cubicBezTo>
                    <a:pt x="0" y="28056"/>
                    <a:pt x="28056" y="0"/>
                    <a:pt x="626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A5505">
                    <a:alpha val="100000"/>
                  </a:srgbClr>
                </a:gs>
                <a:gs pos="100000">
                  <a:srgbClr val="13850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F1CC54BC-F824-E11E-40C3-5A32B7DBFAD4}"/>
                </a:ext>
              </a:extLst>
            </p:cNvPr>
            <p:cNvSpPr txBox="1"/>
            <p:nvPr/>
          </p:nvSpPr>
          <p:spPr>
            <a:xfrm>
              <a:off x="0" y="-38100"/>
              <a:ext cx="1647254" cy="507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5">
            <a:extLst>
              <a:ext uri="{FF2B5EF4-FFF2-40B4-BE49-F238E27FC236}">
                <a16:creationId xmlns:a16="http://schemas.microsoft.com/office/drawing/2014/main" id="{08A1FBCB-8076-29B8-B2B7-31EAC2906311}"/>
              </a:ext>
            </a:extLst>
          </p:cNvPr>
          <p:cNvGrpSpPr/>
          <p:nvPr/>
        </p:nvGrpSpPr>
        <p:grpSpPr>
          <a:xfrm>
            <a:off x="6477000" y="9230154"/>
            <a:ext cx="6254416" cy="1782679"/>
            <a:chOff x="0" y="0"/>
            <a:chExt cx="1647254" cy="469512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6C577574-884E-13F8-7C2D-DBA4F599561D}"/>
                </a:ext>
              </a:extLst>
            </p:cNvPr>
            <p:cNvSpPr/>
            <p:nvPr/>
          </p:nvSpPr>
          <p:spPr>
            <a:xfrm>
              <a:off x="0" y="0"/>
              <a:ext cx="1647254" cy="469512"/>
            </a:xfrm>
            <a:custGeom>
              <a:avLst/>
              <a:gdLst/>
              <a:ahLst/>
              <a:cxnLst/>
              <a:rect l="l" t="t" r="r" b="b"/>
              <a:pathLst>
                <a:path w="1647254" h="469512">
                  <a:moveTo>
                    <a:pt x="62665" y="0"/>
                  </a:moveTo>
                  <a:lnTo>
                    <a:pt x="1584588" y="0"/>
                  </a:lnTo>
                  <a:cubicBezTo>
                    <a:pt x="1619197" y="0"/>
                    <a:pt x="1647254" y="28056"/>
                    <a:pt x="1647254" y="62665"/>
                  </a:cubicBezTo>
                  <a:lnTo>
                    <a:pt x="1647254" y="406847"/>
                  </a:lnTo>
                  <a:cubicBezTo>
                    <a:pt x="1647254" y="441456"/>
                    <a:pt x="1619197" y="469512"/>
                    <a:pt x="1584588" y="469512"/>
                  </a:cubicBezTo>
                  <a:lnTo>
                    <a:pt x="62665" y="469512"/>
                  </a:lnTo>
                  <a:cubicBezTo>
                    <a:pt x="28056" y="469512"/>
                    <a:pt x="0" y="441456"/>
                    <a:pt x="0" y="406847"/>
                  </a:cubicBezTo>
                  <a:lnTo>
                    <a:pt x="0" y="62665"/>
                  </a:lnTo>
                  <a:cubicBezTo>
                    <a:pt x="0" y="28056"/>
                    <a:pt x="28056" y="0"/>
                    <a:pt x="626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A5505">
                    <a:alpha val="100000"/>
                  </a:srgbClr>
                </a:gs>
                <a:gs pos="100000">
                  <a:srgbClr val="13850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7">
              <a:extLst>
                <a:ext uri="{FF2B5EF4-FFF2-40B4-BE49-F238E27FC236}">
                  <a16:creationId xmlns:a16="http://schemas.microsoft.com/office/drawing/2014/main" id="{CC1638C6-BDE2-CBF4-EEA8-1212775004C8}"/>
                </a:ext>
              </a:extLst>
            </p:cNvPr>
            <p:cNvSpPr txBox="1"/>
            <p:nvPr/>
          </p:nvSpPr>
          <p:spPr>
            <a:xfrm>
              <a:off x="0" y="-38100"/>
              <a:ext cx="1647254" cy="507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7640" y="423215"/>
            <a:ext cx="14912720" cy="1221446"/>
            <a:chOff x="0" y="0"/>
            <a:chExt cx="3927630" cy="3216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27630" cy="321698"/>
            </a:xfrm>
            <a:custGeom>
              <a:avLst/>
              <a:gdLst/>
              <a:ahLst/>
              <a:cxnLst/>
              <a:rect l="l" t="t" r="r" b="b"/>
              <a:pathLst>
                <a:path w="3927630" h="321698">
                  <a:moveTo>
                    <a:pt x="26282" y="0"/>
                  </a:moveTo>
                  <a:lnTo>
                    <a:pt x="3901348" y="0"/>
                  </a:lnTo>
                  <a:cubicBezTo>
                    <a:pt x="3908318" y="0"/>
                    <a:pt x="3915003" y="2769"/>
                    <a:pt x="3919932" y="7698"/>
                  </a:cubicBezTo>
                  <a:cubicBezTo>
                    <a:pt x="3924861" y="12627"/>
                    <a:pt x="3927630" y="19312"/>
                    <a:pt x="3927630" y="26282"/>
                  </a:cubicBezTo>
                  <a:lnTo>
                    <a:pt x="3927630" y="295416"/>
                  </a:lnTo>
                  <a:cubicBezTo>
                    <a:pt x="3927630" y="302386"/>
                    <a:pt x="3924861" y="309071"/>
                    <a:pt x="3919932" y="314000"/>
                  </a:cubicBezTo>
                  <a:cubicBezTo>
                    <a:pt x="3915003" y="318929"/>
                    <a:pt x="3908318" y="321698"/>
                    <a:pt x="3901348" y="321698"/>
                  </a:cubicBezTo>
                  <a:lnTo>
                    <a:pt x="26282" y="321698"/>
                  </a:lnTo>
                  <a:cubicBezTo>
                    <a:pt x="19312" y="321698"/>
                    <a:pt x="12627" y="318929"/>
                    <a:pt x="7698" y="314000"/>
                  </a:cubicBezTo>
                  <a:cubicBezTo>
                    <a:pt x="2769" y="309071"/>
                    <a:pt x="0" y="302386"/>
                    <a:pt x="0" y="295416"/>
                  </a:cubicBezTo>
                  <a:lnTo>
                    <a:pt x="0" y="26282"/>
                  </a:lnTo>
                  <a:cubicBezTo>
                    <a:pt x="0" y="19312"/>
                    <a:pt x="2769" y="12627"/>
                    <a:pt x="7698" y="7698"/>
                  </a:cubicBezTo>
                  <a:cubicBezTo>
                    <a:pt x="12627" y="2769"/>
                    <a:pt x="19312" y="0"/>
                    <a:pt x="2628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A5505">
                    <a:alpha val="100000"/>
                  </a:srgbClr>
                </a:gs>
                <a:gs pos="100000">
                  <a:srgbClr val="13850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927630" cy="359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899650" y="1885820"/>
            <a:ext cx="13096531" cy="6515360"/>
          </a:xfrm>
          <a:custGeom>
            <a:avLst/>
            <a:gdLst/>
            <a:ahLst/>
            <a:cxnLst/>
            <a:rect l="l" t="t" r="r" b="b"/>
            <a:pathLst>
              <a:path w="13096531" h="6515360">
                <a:moveTo>
                  <a:pt x="0" y="0"/>
                </a:moveTo>
                <a:lnTo>
                  <a:pt x="13096531" y="0"/>
                </a:lnTo>
                <a:lnTo>
                  <a:pt x="13096531" y="6515360"/>
                </a:lnTo>
                <a:lnTo>
                  <a:pt x="0" y="65153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554" b="-1055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4810419" y="8572630"/>
            <a:ext cx="1232623" cy="1232623"/>
          </a:xfrm>
          <a:custGeom>
            <a:avLst/>
            <a:gdLst/>
            <a:ahLst/>
            <a:cxnLst/>
            <a:rect l="l" t="t" r="r" b="b"/>
            <a:pathLst>
              <a:path w="1232623" h="1232623">
                <a:moveTo>
                  <a:pt x="0" y="0"/>
                </a:moveTo>
                <a:lnTo>
                  <a:pt x="1232624" y="0"/>
                </a:lnTo>
                <a:lnTo>
                  <a:pt x="1232624" y="1232623"/>
                </a:lnTo>
                <a:lnTo>
                  <a:pt x="0" y="12326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2676109" y="717338"/>
            <a:ext cx="13320071" cy="74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9"/>
              </a:lnSpc>
            </a:pPr>
            <a:r>
              <a:rPr lang="en-US" sz="57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Colégio Lindaura R Lucas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7968" y="8873508"/>
            <a:ext cx="13320071" cy="76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8"/>
              </a:lnSpc>
            </a:pPr>
            <a:r>
              <a:rPr lang="en-US" sz="5946" b="1">
                <a:solidFill>
                  <a:srgbClr val="2A5505"/>
                </a:solidFill>
                <a:latin typeface="Garet Bold"/>
                <a:ea typeface="Garet Bold"/>
                <a:cs typeface="Garet Bold"/>
                <a:sym typeface="Garet Bold"/>
              </a:rPr>
              <a:t>@colegiolindaura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04631" y="0"/>
            <a:ext cx="1883369" cy="2635758"/>
          </a:xfrm>
          <a:custGeom>
            <a:avLst/>
            <a:gdLst/>
            <a:ahLst/>
            <a:cxnLst/>
            <a:rect l="l" t="t" r="r" b="b"/>
            <a:pathLst>
              <a:path w="1883369" h="2635758">
                <a:moveTo>
                  <a:pt x="0" y="0"/>
                </a:moveTo>
                <a:lnTo>
                  <a:pt x="1883369" y="0"/>
                </a:lnTo>
                <a:lnTo>
                  <a:pt x="1883369" y="2635758"/>
                </a:lnTo>
                <a:lnTo>
                  <a:pt x="0" y="26357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/>
          <p:cNvSpPr/>
          <p:nvPr/>
        </p:nvSpPr>
        <p:spPr>
          <a:xfrm>
            <a:off x="161035" y="7429500"/>
            <a:ext cx="1719259" cy="2597781"/>
          </a:xfrm>
          <a:custGeom>
            <a:avLst/>
            <a:gdLst/>
            <a:ahLst/>
            <a:cxnLst/>
            <a:rect l="l" t="t" r="r" b="b"/>
            <a:pathLst>
              <a:path w="1719259" h="2597781">
                <a:moveTo>
                  <a:pt x="0" y="0"/>
                </a:moveTo>
                <a:lnTo>
                  <a:pt x="1719259" y="0"/>
                </a:lnTo>
                <a:lnTo>
                  <a:pt x="1719259" y="2597781"/>
                </a:lnTo>
                <a:lnTo>
                  <a:pt x="0" y="25977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440189" y="868937"/>
            <a:ext cx="14021186" cy="885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1">
                <a:solidFill>
                  <a:srgbClr val="2A5505"/>
                </a:solidFill>
                <a:latin typeface="Garet Bold"/>
                <a:ea typeface="Garet Bold"/>
                <a:cs typeface="Garet Bold"/>
                <a:sym typeface="Garet Bold"/>
              </a:rPr>
              <a:t>Objetivo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7365" y="2739403"/>
            <a:ext cx="17933271" cy="5292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l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Avaliar hábitos de consumo de água e energia</a:t>
            </a:r>
          </a:p>
          <a:p>
            <a:pPr algn="l">
              <a:lnSpc>
                <a:spcPts val="7000"/>
              </a:lnSpc>
            </a:pPr>
            <a:endParaRPr lang="en-US" sz="5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1079501" lvl="1" indent="-539750" algn="l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Identificar desperdícios na escola</a:t>
            </a:r>
          </a:p>
          <a:p>
            <a:pPr algn="l">
              <a:lnSpc>
                <a:spcPts val="7000"/>
              </a:lnSpc>
            </a:pPr>
            <a:endParaRPr lang="en-US" sz="5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1079501" lvl="1" indent="-539750" algn="l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Promover consciência ambiental</a:t>
            </a:r>
          </a:p>
          <a:p>
            <a:pPr algn="just">
              <a:lnSpc>
                <a:spcPts val="7000"/>
              </a:lnSpc>
              <a:spcBef>
                <a:spcPct val="0"/>
              </a:spcBef>
            </a:pPr>
            <a:endParaRPr lang="en-US" sz="5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33328" y="431634"/>
            <a:ext cx="3839823" cy="3839823"/>
          </a:xfrm>
          <a:custGeom>
            <a:avLst/>
            <a:gdLst/>
            <a:ahLst/>
            <a:cxnLst/>
            <a:rect l="l" t="t" r="r" b="b"/>
            <a:pathLst>
              <a:path w="3839823" h="3839823">
                <a:moveTo>
                  <a:pt x="0" y="0"/>
                </a:moveTo>
                <a:lnTo>
                  <a:pt x="3839823" y="0"/>
                </a:lnTo>
                <a:lnTo>
                  <a:pt x="3839823" y="3839823"/>
                </a:lnTo>
                <a:lnTo>
                  <a:pt x="0" y="38398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0" y="3397170"/>
            <a:ext cx="18288000" cy="6393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l">
              <a:lnSpc>
                <a:spcPts val="485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Todos fecham a torneira corretamente ?</a:t>
            </a:r>
          </a:p>
          <a:p>
            <a:pPr algn="l">
              <a:lnSpc>
                <a:spcPts val="4850"/>
              </a:lnSpc>
            </a:pPr>
            <a:endParaRPr lang="en-US" sz="5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1079501" lvl="1" indent="-539750" algn="l">
              <a:lnSpc>
                <a:spcPts val="485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Uso consciente ?</a:t>
            </a:r>
          </a:p>
          <a:p>
            <a:pPr algn="l">
              <a:lnSpc>
                <a:spcPts val="4850"/>
              </a:lnSpc>
            </a:pPr>
            <a:endParaRPr lang="en-US" sz="5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1079501" lvl="1" indent="-539750" algn="l">
              <a:lnSpc>
                <a:spcPts val="485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Identificar presença de vazamentos.</a:t>
            </a:r>
          </a:p>
          <a:p>
            <a:pPr algn="l">
              <a:lnSpc>
                <a:spcPts val="4850"/>
              </a:lnSpc>
            </a:pPr>
            <a:endParaRPr lang="en-US" sz="5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1079501" lvl="1" indent="-539750" algn="l">
              <a:lnSpc>
                <a:spcPts val="485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Baixa</a:t>
            </a:r>
            <a:r>
              <a:rPr lang="en-US" sz="5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ação</a:t>
            </a: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ao identificar desperdício.</a:t>
            </a:r>
          </a:p>
          <a:p>
            <a:pPr algn="l">
              <a:lnSpc>
                <a:spcPts val="4850"/>
              </a:lnSpc>
            </a:pPr>
            <a:endParaRPr lang="en-US" sz="5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850"/>
              </a:lnSpc>
            </a:pPr>
            <a:endParaRPr lang="en-US" sz="5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6641"/>
              </a:lnSpc>
            </a:pPr>
            <a:endParaRPr lang="en-US" sz="5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Freeform 4"/>
          <p:cNvSpPr/>
          <p:nvPr/>
        </p:nvSpPr>
        <p:spPr>
          <a:xfrm rot="1444835">
            <a:off x="14012165" y="5379986"/>
            <a:ext cx="3482149" cy="4114800"/>
          </a:xfrm>
          <a:custGeom>
            <a:avLst/>
            <a:gdLst/>
            <a:ahLst/>
            <a:cxnLst/>
            <a:rect l="l" t="t" r="r" b="b"/>
            <a:pathLst>
              <a:path w="3482149" h="4114800">
                <a:moveTo>
                  <a:pt x="0" y="0"/>
                </a:moveTo>
                <a:lnTo>
                  <a:pt x="3482149" y="0"/>
                </a:lnTo>
                <a:lnTo>
                  <a:pt x="34821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0" y="1465768"/>
            <a:ext cx="14464598" cy="885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1">
                <a:solidFill>
                  <a:srgbClr val="2A5505"/>
                </a:solidFill>
                <a:latin typeface="Garet Bold"/>
                <a:ea typeface="Garet Bold"/>
                <a:cs typeface="Garet Bold"/>
                <a:sym typeface="Garet Bold"/>
              </a:rPr>
              <a:t>Uso consciente de água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4443587"/>
            <a:ext cx="18288000" cy="4308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l">
              <a:lnSpc>
                <a:spcPts val="485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Luzes ficam acesas sem necessidade</a:t>
            </a:r>
          </a:p>
          <a:p>
            <a:pPr algn="l">
              <a:lnSpc>
                <a:spcPts val="4850"/>
              </a:lnSpc>
            </a:pPr>
            <a:endParaRPr lang="en-US" sz="5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850"/>
              </a:lnSpc>
            </a:pPr>
            <a:endParaRPr lang="en-US" sz="5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1079501" lvl="1" indent="-539750" algn="l">
              <a:lnSpc>
                <a:spcPts val="485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Equipamentos ligados sem uso </a:t>
            </a:r>
          </a:p>
          <a:p>
            <a:pPr algn="l">
              <a:lnSpc>
                <a:spcPts val="4850"/>
              </a:lnSpc>
            </a:pPr>
            <a:endParaRPr lang="en-US" sz="5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850"/>
              </a:lnSpc>
            </a:pPr>
            <a:endParaRPr lang="en-US" sz="5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1079501" lvl="1" indent="-539750" algn="l">
              <a:lnSpc>
                <a:spcPts val="485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Utilizam luz natural </a:t>
            </a:r>
          </a:p>
        </p:txBody>
      </p:sp>
      <p:sp>
        <p:nvSpPr>
          <p:cNvPr id="3" name="Freeform 3"/>
          <p:cNvSpPr/>
          <p:nvPr/>
        </p:nvSpPr>
        <p:spPr>
          <a:xfrm rot="1444835">
            <a:off x="14012165" y="5379986"/>
            <a:ext cx="3482149" cy="4114800"/>
          </a:xfrm>
          <a:custGeom>
            <a:avLst/>
            <a:gdLst/>
            <a:ahLst/>
            <a:cxnLst/>
            <a:rect l="l" t="t" r="r" b="b"/>
            <a:pathLst>
              <a:path w="3482149" h="4114800">
                <a:moveTo>
                  <a:pt x="0" y="0"/>
                </a:moveTo>
                <a:lnTo>
                  <a:pt x="3482149" y="0"/>
                </a:lnTo>
                <a:lnTo>
                  <a:pt x="34821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768580" y="222737"/>
            <a:ext cx="2864276" cy="3825411"/>
          </a:xfrm>
          <a:custGeom>
            <a:avLst/>
            <a:gdLst/>
            <a:ahLst/>
            <a:cxnLst/>
            <a:rect l="l" t="t" r="r" b="b"/>
            <a:pathLst>
              <a:path w="2864276" h="3825411">
                <a:moveTo>
                  <a:pt x="0" y="0"/>
                </a:moveTo>
                <a:lnTo>
                  <a:pt x="2864277" y="0"/>
                </a:lnTo>
                <a:lnTo>
                  <a:pt x="2864277" y="3825410"/>
                </a:lnTo>
                <a:lnTo>
                  <a:pt x="0" y="38254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2794702" y="1768754"/>
            <a:ext cx="14464598" cy="885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1">
                <a:solidFill>
                  <a:srgbClr val="2A5505"/>
                </a:solidFill>
                <a:latin typeface="Garet Bold"/>
                <a:ea typeface="Garet Bold"/>
                <a:cs typeface="Garet Bold"/>
                <a:sym typeface="Garet Bold"/>
              </a:rPr>
              <a:t>Uso de Energia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3120584"/>
            <a:ext cx="18288000" cy="6137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l">
              <a:lnSpc>
                <a:spcPts val="485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Campanhas educativas</a:t>
            </a:r>
          </a:p>
          <a:p>
            <a:pPr algn="l">
              <a:lnSpc>
                <a:spcPts val="4850"/>
              </a:lnSpc>
            </a:pPr>
            <a:endParaRPr lang="en-US" sz="5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850"/>
              </a:lnSpc>
            </a:pPr>
            <a:endParaRPr lang="en-US" sz="5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1079501" lvl="1" indent="-539750" algn="l">
              <a:lnSpc>
                <a:spcPts val="485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Incentivo a hábitos sustentáveis</a:t>
            </a:r>
          </a:p>
          <a:p>
            <a:pPr algn="l">
              <a:lnSpc>
                <a:spcPts val="4850"/>
              </a:lnSpc>
            </a:pPr>
            <a:endParaRPr lang="en-US" sz="5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850"/>
              </a:lnSpc>
            </a:pPr>
            <a:endParaRPr lang="en-US" sz="5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1079501" lvl="1" indent="-539750" algn="l">
              <a:lnSpc>
                <a:spcPts val="485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Manutenção preventiva</a:t>
            </a:r>
          </a:p>
          <a:p>
            <a:pPr algn="l">
              <a:lnSpc>
                <a:spcPts val="4850"/>
              </a:lnSpc>
            </a:pPr>
            <a:endParaRPr lang="en-US" sz="5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850"/>
              </a:lnSpc>
            </a:pPr>
            <a:endParaRPr lang="en-US" sz="5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1079501" lvl="1" indent="-539750" algn="l">
              <a:lnSpc>
                <a:spcPts val="485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Projetos com alunos</a:t>
            </a:r>
          </a:p>
        </p:txBody>
      </p:sp>
      <p:sp>
        <p:nvSpPr>
          <p:cNvPr id="3" name="Freeform 3"/>
          <p:cNvSpPr/>
          <p:nvPr/>
        </p:nvSpPr>
        <p:spPr>
          <a:xfrm>
            <a:off x="15468600" y="6847109"/>
            <a:ext cx="2049383" cy="2737073"/>
          </a:xfrm>
          <a:custGeom>
            <a:avLst/>
            <a:gdLst/>
            <a:ahLst/>
            <a:cxnLst/>
            <a:rect l="l" t="t" r="r" b="b"/>
            <a:pathLst>
              <a:path w="2049383" h="2737073">
                <a:moveTo>
                  <a:pt x="0" y="0"/>
                </a:moveTo>
                <a:lnTo>
                  <a:pt x="2049383" y="0"/>
                </a:lnTo>
                <a:lnTo>
                  <a:pt x="2049383" y="2737073"/>
                </a:lnTo>
                <a:lnTo>
                  <a:pt x="0" y="2737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2499094" y="1181100"/>
            <a:ext cx="14464598" cy="885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1">
                <a:solidFill>
                  <a:srgbClr val="2A5505"/>
                </a:solidFill>
                <a:latin typeface="Garet Bold"/>
                <a:ea typeface="Garet Bold"/>
                <a:cs typeface="Garet Bold"/>
                <a:sym typeface="Garet Bold"/>
              </a:rPr>
              <a:t>Consciêncitização da Escola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0" y="0"/>
            <a:ext cx="2794702" cy="2794702"/>
          </a:xfrm>
          <a:custGeom>
            <a:avLst/>
            <a:gdLst/>
            <a:ahLst/>
            <a:cxnLst/>
            <a:rect l="l" t="t" r="r" b="b"/>
            <a:pathLst>
              <a:path w="2794702" h="2794702">
                <a:moveTo>
                  <a:pt x="2794702" y="0"/>
                </a:moveTo>
                <a:lnTo>
                  <a:pt x="0" y="0"/>
                </a:lnTo>
                <a:lnTo>
                  <a:pt x="0" y="2794702"/>
                </a:lnTo>
                <a:lnTo>
                  <a:pt x="2794702" y="2794702"/>
                </a:lnTo>
                <a:lnTo>
                  <a:pt x="2794702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39001" y="7224759"/>
            <a:ext cx="2049383" cy="2737073"/>
          </a:xfrm>
          <a:custGeom>
            <a:avLst/>
            <a:gdLst/>
            <a:ahLst/>
            <a:cxnLst/>
            <a:rect l="l" t="t" r="r" b="b"/>
            <a:pathLst>
              <a:path w="2049383" h="2737073">
                <a:moveTo>
                  <a:pt x="0" y="0"/>
                </a:moveTo>
                <a:lnTo>
                  <a:pt x="2049383" y="0"/>
                </a:lnTo>
                <a:lnTo>
                  <a:pt x="2049383" y="2737072"/>
                </a:lnTo>
                <a:lnTo>
                  <a:pt x="0" y="27370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2794702" y="1070747"/>
            <a:ext cx="14464598" cy="1723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1">
                <a:solidFill>
                  <a:srgbClr val="2A5505"/>
                </a:solidFill>
                <a:latin typeface="Garet Bold"/>
                <a:ea typeface="Garet Bold"/>
                <a:cs typeface="Garet Bold"/>
                <a:sym typeface="Garet Bold"/>
              </a:rPr>
              <a:t>Como vamos identificar os problemas ? 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0" y="0"/>
            <a:ext cx="2794702" cy="2794702"/>
          </a:xfrm>
          <a:custGeom>
            <a:avLst/>
            <a:gdLst/>
            <a:ahLst/>
            <a:cxnLst/>
            <a:rect l="l" t="t" r="r" b="b"/>
            <a:pathLst>
              <a:path w="2794702" h="2794702">
                <a:moveTo>
                  <a:pt x="2794702" y="0"/>
                </a:moveTo>
                <a:lnTo>
                  <a:pt x="0" y="0"/>
                </a:lnTo>
                <a:lnTo>
                  <a:pt x="0" y="2794702"/>
                </a:lnTo>
                <a:lnTo>
                  <a:pt x="2794702" y="2794702"/>
                </a:lnTo>
                <a:lnTo>
                  <a:pt x="2794702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0" y="3359434"/>
            <a:ext cx="18288000" cy="440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212033"/>
                </a:solidFill>
                <a:latin typeface="Open Sans"/>
                <a:ea typeface="Open Sans"/>
                <a:cs typeface="Open Sans"/>
                <a:sym typeface="Open Sans"/>
              </a:rPr>
              <a:t> Elaboramos um questionário (FORMS),com perguntas que irão ajudar a entender como ocorre o uso de água e energia</a:t>
            </a:r>
          </a:p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212033"/>
                </a:solidFill>
                <a:latin typeface="Open Sans"/>
                <a:ea typeface="Open Sans"/>
                <a:cs typeface="Open Sans"/>
                <a:sym typeface="Open Sans"/>
              </a:rPr>
              <a:t>na escola.</a:t>
            </a:r>
          </a:p>
          <a:p>
            <a:pPr algn="just">
              <a:lnSpc>
                <a:spcPts val="7000"/>
              </a:lnSpc>
              <a:spcBef>
                <a:spcPct val="0"/>
              </a:spcBef>
            </a:pPr>
            <a:endParaRPr lang="en-US" sz="5000">
              <a:solidFill>
                <a:srgbClr val="2120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2A5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Participantes :</a:t>
            </a:r>
            <a:r>
              <a:rPr lang="en-US" sz="5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Professores, Alunos e Funcionários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41148" y="1028700"/>
            <a:ext cx="6029478" cy="8814888"/>
          </a:xfrm>
          <a:custGeom>
            <a:avLst/>
            <a:gdLst/>
            <a:ahLst/>
            <a:cxnLst/>
            <a:rect l="l" t="t" r="r" b="b"/>
            <a:pathLst>
              <a:path w="6029478" h="8814888">
                <a:moveTo>
                  <a:pt x="0" y="0"/>
                </a:moveTo>
                <a:lnTo>
                  <a:pt x="6029478" y="0"/>
                </a:lnTo>
                <a:lnTo>
                  <a:pt x="6029478" y="8814888"/>
                </a:lnTo>
                <a:lnTo>
                  <a:pt x="0" y="88148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2" b="-133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523588" y="377780"/>
            <a:ext cx="14464598" cy="650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0"/>
              </a:lnSpc>
            </a:pPr>
            <a:r>
              <a:rPr lang="en-US" sz="5000" b="1">
                <a:solidFill>
                  <a:srgbClr val="2A5505"/>
                </a:solidFill>
                <a:latin typeface="Garet Bold"/>
                <a:ea typeface="Garet Bold"/>
                <a:cs typeface="Garet Bold"/>
                <a:sym typeface="Garet Bold"/>
              </a:rPr>
              <a:t>QUESTIONÁRIO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4045074"/>
            <a:ext cx="18288000" cy="136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23"/>
              </a:lnSpc>
            </a:pPr>
            <a:r>
              <a:rPr lang="en-US" sz="10000" b="1" dirty="0">
                <a:solidFill>
                  <a:srgbClr val="2A5505"/>
                </a:solidFill>
                <a:latin typeface="Garet Bold"/>
                <a:ea typeface="Garet Bold"/>
                <a:cs typeface="Garet Bold"/>
                <a:sym typeface="Garet Bold"/>
              </a:rPr>
              <a:t>OBRIGADA PELA ATENÇÃO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016792" y="-753979"/>
            <a:ext cx="6254416" cy="1782679"/>
            <a:chOff x="0" y="0"/>
            <a:chExt cx="1647254" cy="4695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47254" cy="469512"/>
            </a:xfrm>
            <a:custGeom>
              <a:avLst/>
              <a:gdLst/>
              <a:ahLst/>
              <a:cxnLst/>
              <a:rect l="l" t="t" r="r" b="b"/>
              <a:pathLst>
                <a:path w="1647254" h="469512">
                  <a:moveTo>
                    <a:pt x="62665" y="0"/>
                  </a:moveTo>
                  <a:lnTo>
                    <a:pt x="1584588" y="0"/>
                  </a:lnTo>
                  <a:cubicBezTo>
                    <a:pt x="1619197" y="0"/>
                    <a:pt x="1647254" y="28056"/>
                    <a:pt x="1647254" y="62665"/>
                  </a:cubicBezTo>
                  <a:lnTo>
                    <a:pt x="1647254" y="406847"/>
                  </a:lnTo>
                  <a:cubicBezTo>
                    <a:pt x="1647254" y="441456"/>
                    <a:pt x="1619197" y="469512"/>
                    <a:pt x="1584588" y="469512"/>
                  </a:cubicBezTo>
                  <a:lnTo>
                    <a:pt x="62665" y="469512"/>
                  </a:lnTo>
                  <a:cubicBezTo>
                    <a:pt x="28056" y="469512"/>
                    <a:pt x="0" y="441456"/>
                    <a:pt x="0" y="406847"/>
                  </a:cubicBezTo>
                  <a:lnTo>
                    <a:pt x="0" y="62665"/>
                  </a:lnTo>
                  <a:cubicBezTo>
                    <a:pt x="0" y="28056"/>
                    <a:pt x="28056" y="0"/>
                    <a:pt x="626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A5505">
                    <a:alpha val="100000"/>
                  </a:srgbClr>
                </a:gs>
                <a:gs pos="100000">
                  <a:srgbClr val="13850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647254" cy="507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535513" y="6580026"/>
            <a:ext cx="2752487" cy="3706974"/>
          </a:xfrm>
          <a:custGeom>
            <a:avLst/>
            <a:gdLst/>
            <a:ahLst/>
            <a:cxnLst/>
            <a:rect l="l" t="t" r="r" b="b"/>
            <a:pathLst>
              <a:path w="2752487" h="3706974">
                <a:moveTo>
                  <a:pt x="0" y="0"/>
                </a:moveTo>
                <a:lnTo>
                  <a:pt x="2752487" y="0"/>
                </a:lnTo>
                <a:lnTo>
                  <a:pt x="2752487" y="3706974"/>
                </a:lnTo>
                <a:lnTo>
                  <a:pt x="0" y="3706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83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 flipH="1">
            <a:off x="0" y="0"/>
            <a:ext cx="3573776" cy="3573776"/>
          </a:xfrm>
          <a:custGeom>
            <a:avLst/>
            <a:gdLst/>
            <a:ahLst/>
            <a:cxnLst/>
            <a:rect l="l" t="t" r="r" b="b"/>
            <a:pathLst>
              <a:path w="3573776" h="3573776">
                <a:moveTo>
                  <a:pt x="3573776" y="0"/>
                </a:moveTo>
                <a:lnTo>
                  <a:pt x="0" y="0"/>
                </a:lnTo>
                <a:lnTo>
                  <a:pt x="0" y="3573776"/>
                </a:lnTo>
                <a:lnTo>
                  <a:pt x="3573776" y="3573776"/>
                </a:lnTo>
                <a:lnTo>
                  <a:pt x="3573776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2690032" y="5589869"/>
            <a:ext cx="11653634" cy="4311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3"/>
              </a:lnSpc>
            </a:pPr>
            <a:r>
              <a:rPr lang="en-US" sz="3502" dirty="0">
                <a:solidFill>
                  <a:srgbClr val="212033"/>
                </a:solidFill>
                <a:latin typeface="Open Sans"/>
                <a:ea typeface="Open Sans"/>
                <a:cs typeface="Open Sans"/>
                <a:sym typeface="Open Sans"/>
              </a:rPr>
              <a:t>Amanda Taborda Andrande da Rocha</a:t>
            </a:r>
          </a:p>
          <a:p>
            <a:pPr algn="ctr">
              <a:lnSpc>
                <a:spcPts val="4903"/>
              </a:lnSpc>
            </a:pPr>
            <a:r>
              <a:rPr lang="en-US" sz="3502" dirty="0">
                <a:solidFill>
                  <a:srgbClr val="212033"/>
                </a:solidFill>
                <a:latin typeface="Open Sans"/>
                <a:ea typeface="Open Sans"/>
                <a:cs typeface="Open Sans"/>
                <a:sym typeface="Open Sans"/>
              </a:rPr>
              <a:t>Gabriel Henrique Alvez Raatz</a:t>
            </a:r>
          </a:p>
          <a:p>
            <a:pPr algn="ctr">
              <a:lnSpc>
                <a:spcPts val="4903"/>
              </a:lnSpc>
            </a:pPr>
            <a:r>
              <a:rPr lang="en-US" sz="3502" dirty="0">
                <a:solidFill>
                  <a:srgbClr val="212033"/>
                </a:solidFill>
                <a:latin typeface="Open Sans"/>
                <a:ea typeface="Open Sans"/>
                <a:cs typeface="Open Sans"/>
                <a:sym typeface="Open Sans"/>
              </a:rPr>
              <a:t>Gabrielle Opolenski da Cruz</a:t>
            </a:r>
          </a:p>
          <a:p>
            <a:pPr algn="ctr">
              <a:lnSpc>
                <a:spcPts val="4903"/>
              </a:lnSpc>
            </a:pPr>
            <a:r>
              <a:rPr lang="en-US" sz="3502" dirty="0">
                <a:solidFill>
                  <a:srgbClr val="212033"/>
                </a:solidFill>
                <a:latin typeface="Open Sans"/>
                <a:ea typeface="Open Sans"/>
                <a:cs typeface="Open Sans"/>
                <a:sym typeface="Open Sans"/>
              </a:rPr>
              <a:t>Luciana Eduarda Cavalcante</a:t>
            </a:r>
          </a:p>
          <a:p>
            <a:pPr algn="ctr">
              <a:lnSpc>
                <a:spcPts val="4903"/>
              </a:lnSpc>
            </a:pPr>
            <a:r>
              <a:rPr lang="en-US" sz="3502" dirty="0">
                <a:solidFill>
                  <a:srgbClr val="212033"/>
                </a:solidFill>
                <a:latin typeface="Open Sans"/>
                <a:ea typeface="Open Sans"/>
                <a:cs typeface="Open Sans"/>
                <a:sym typeface="Open Sans"/>
              </a:rPr>
              <a:t>Maria Eduarda Corrêa </a:t>
            </a:r>
            <a:r>
              <a:rPr lang="en-US" sz="3502" dirty="0" err="1">
                <a:solidFill>
                  <a:srgbClr val="212033"/>
                </a:solidFill>
                <a:latin typeface="Open Sans"/>
                <a:ea typeface="Open Sans"/>
                <a:cs typeface="Open Sans"/>
                <a:sym typeface="Open Sans"/>
              </a:rPr>
              <a:t>Ostrufka</a:t>
            </a:r>
            <a:endParaRPr lang="en-US" sz="3502" dirty="0">
              <a:solidFill>
                <a:srgbClr val="2120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4903"/>
              </a:lnSpc>
            </a:pPr>
            <a:r>
              <a:rPr lang="en-US" sz="3502" dirty="0">
                <a:solidFill>
                  <a:srgbClr val="212033"/>
                </a:solidFill>
                <a:latin typeface="Open Sans"/>
                <a:ea typeface="Open Sans"/>
                <a:cs typeface="Open Sans"/>
                <a:sym typeface="Open Sans"/>
              </a:rPr>
              <a:t>Matheus </a:t>
            </a:r>
            <a:r>
              <a:rPr lang="en-US" sz="3502" dirty="0" err="1">
                <a:solidFill>
                  <a:srgbClr val="212033"/>
                </a:solidFill>
                <a:latin typeface="Open Sans"/>
                <a:ea typeface="Open Sans"/>
                <a:cs typeface="Open Sans"/>
                <a:sym typeface="Open Sans"/>
              </a:rPr>
              <a:t>Pupia</a:t>
            </a:r>
            <a:endParaRPr lang="en-US" sz="3502" dirty="0">
              <a:solidFill>
                <a:srgbClr val="2120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4903"/>
              </a:lnSpc>
              <a:spcBef>
                <a:spcPct val="0"/>
              </a:spcBef>
            </a:pPr>
            <a:r>
              <a:rPr lang="en-US" sz="3502" dirty="0">
                <a:solidFill>
                  <a:srgbClr val="212033"/>
                </a:solidFill>
                <a:latin typeface="Open Sans"/>
                <a:ea typeface="Open Sans"/>
                <a:cs typeface="Open Sans"/>
                <a:sym typeface="Open Sans"/>
              </a:rPr>
              <a:t>Wesley Alexandre de Vicente Primo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5717FEE2-6EC9-4893-0C9A-83FE6D7AD911}"/>
              </a:ext>
            </a:extLst>
          </p:cNvPr>
          <p:cNvSpPr txBox="1"/>
          <p:nvPr/>
        </p:nvSpPr>
        <p:spPr>
          <a:xfrm>
            <a:off x="6169192" y="-746240"/>
            <a:ext cx="6254416" cy="192734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149</Words>
  <Application>Microsoft Office PowerPoint</Application>
  <PresentationFormat>Personalizar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Open Sans</vt:lpstr>
      <vt:lpstr>Canva Sans Bold</vt:lpstr>
      <vt:lpstr>Garet Bold</vt:lpstr>
      <vt:lpstr>Calibri</vt:lpstr>
      <vt:lpstr>Arial</vt:lpstr>
      <vt:lpstr>Open Sans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Meio Ambiente</dc:title>
  <cp:lastModifiedBy>Gabii .</cp:lastModifiedBy>
  <cp:revision>2</cp:revision>
  <dcterms:created xsi:type="dcterms:W3CDTF">2006-08-16T00:00:00Z</dcterms:created>
  <dcterms:modified xsi:type="dcterms:W3CDTF">2026-03-24T00:05:33Z</dcterms:modified>
  <dc:identifier>DAHEz9xP1fE</dc:identifier>
</cp:coreProperties>
</file>